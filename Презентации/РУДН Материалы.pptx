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360000" y="2033127"/>
            <a:ext cx="6868800" cy="1268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Обзор темы: классификация технологий и способы обработки материалов
</a:t>
            </a:r>
            <a:endParaRPr lang="en-US" sz="3200" dirty="0"/>
          </a:p>
        </p:txBody>
      </p:sp>
      <p:sp>
        <p:nvSpPr>
          <p:cNvPr id="6" name="Text 1"/>
          <p:cNvSpPr txBox="1"/>
          <p:nvPr/>
        </p:nvSpPr>
        <p:spPr>
          <a:xfrm>
            <a:off x="360000" y="3712200"/>
            <a:ext cx="6868800" cy="785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 технологий охватывает методы обработки материалов для создания изделий.
</a:t>
            </a:r>
            <a:endParaRPr lang="en-US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447590" y="433985"/>
            <a:ext cx="2332800" cy="3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00" y="1349364"/>
            <a:ext cx="4148100" cy="3098922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356600" y="360000"/>
            <a:ext cx="8426700" cy="88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и эволюция технологий обработки материалов
</a:t>
            </a:r>
            <a:endParaRPr lang="en-US" sz="3000" dirty="0"/>
          </a:p>
        </p:txBody>
      </p:sp>
      <p:sp>
        <p:nvSpPr>
          <p:cNvPr id="8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2"/>
          <p:cNvSpPr txBox="1"/>
          <p:nvPr/>
        </p:nvSpPr>
        <p:spPr>
          <a:xfrm>
            <a:off x="4899050" y="1624284"/>
            <a:ext cx="3631500" cy="254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эпохи камня до современных автоматизированных комплексов: развитие методов обработки материалов отражает рост технологий и научных знаний, ведущих к высоким стандартам производства.
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ext 0"/>
          <p:cNvSpPr txBox="1"/>
          <p:nvPr/>
        </p:nvSpPr>
        <p:spPr>
          <a:xfrm>
            <a:off x="356600" y="360000"/>
            <a:ext cx="8426700" cy="88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признаки классификации технологий обработки
</a:t>
            </a:r>
            <a:endParaRPr lang="en-US" sz="3000" dirty="0"/>
          </a:p>
        </p:txBody>
      </p:sp>
      <p:sp>
        <p:nvSpPr>
          <p:cNvPr id="10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2"/>
          <p:cNvSpPr txBox="1"/>
          <p:nvPr/>
        </p:nvSpPr>
        <p:spPr>
          <a:xfrm>
            <a:off x="655350" y="1562800"/>
            <a:ext cx="3548400" cy="109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Технологии различают по виду воздействия — механическому, термическому и химическому, определяющим принцип обработки и конечный результат.
</a:t>
            </a:r>
            <a:endParaRPr lang="en-US" sz="1400" dirty="0"/>
          </a:p>
        </p:txBody>
      </p:sp>
      <p:sp>
        <p:nvSpPr>
          <p:cNvPr id="12" name="Text 3"/>
          <p:cNvSpPr txBox="1"/>
          <p:nvPr/>
        </p:nvSpPr>
        <p:spPr>
          <a:xfrm>
            <a:off x="655350" y="3382250"/>
            <a:ext cx="3548400" cy="109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Процессы классифицируют по характеру: удаление материала (субтрактивный) или формирование изделия (аддитивный) с разными техническими особенностями.
</a:t>
            </a:r>
            <a:endParaRPr lang="en-US" sz="1400" dirty="0"/>
          </a:p>
        </p:txBody>
      </p:sp>
      <p:sp>
        <p:nvSpPr>
          <p:cNvPr id="13" name="Text 4"/>
          <p:cNvSpPr txBox="1"/>
          <p:nvPr/>
        </p:nvSpPr>
        <p:spPr>
          <a:xfrm>
            <a:off x="4937550" y="1562800"/>
            <a:ext cx="3548400" cy="109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Учитывается исходное состояние материала — твёрдое, жидкое или газообразное, что влияет на выбор метода и параметров обработки.
</a:t>
            </a:r>
            <a:endParaRPr lang="en-US" sz="1400" dirty="0"/>
          </a:p>
        </p:txBody>
      </p:sp>
      <p:sp>
        <p:nvSpPr>
          <p:cNvPr id="14" name="Text 5"/>
          <p:cNvSpPr txBox="1"/>
          <p:nvPr/>
        </p:nvSpPr>
        <p:spPr>
          <a:xfrm>
            <a:off x="4937550" y="3382250"/>
            <a:ext cx="3548400" cy="109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Важен уровень автоматизации и оборудование — от ручных операций до полностью управляемых цифровыми системами.
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75" y="1660392"/>
            <a:ext cx="4843800" cy="2763815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356600" y="360000"/>
            <a:ext cx="8426700" cy="88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Сравнительная таблица способов обработки материалов
</a:t>
            </a:r>
            <a:endParaRPr lang="en-US" sz="3000" dirty="0"/>
          </a:p>
        </p:txBody>
      </p:sp>
      <p:sp>
        <p:nvSpPr>
          <p:cNvPr id="6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Text 2"/>
          <p:cNvSpPr txBox="1"/>
          <p:nvPr/>
        </p:nvSpPr>
        <p:spPr>
          <a:xfrm>
            <a:off x="5356100" y="1310700"/>
            <a:ext cx="3430800" cy="1092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обработки с ключевыми параметрами и ограничениями по материалам и качеству изделий.
</a:t>
            </a:r>
            <a:endParaRPr lang="en-US" sz="1400" dirty="0"/>
          </a:p>
        </p:txBody>
      </p:sp>
      <p:sp>
        <p:nvSpPr>
          <p:cNvPr id="8" name="Text 3"/>
          <p:cNvSpPr txBox="1"/>
          <p:nvPr/>
        </p:nvSpPr>
        <p:spPr>
          <a:xfrm>
            <a:off x="5356100" y="2571750"/>
            <a:ext cx="3430800" cy="109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Разные методы применимы для специфических материалов и технологий с учётом точности и условий.
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5356100" y="4225200"/>
            <a:ext cx="3430800" cy="558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650" y="1011938"/>
            <a:ext cx="2717400" cy="15550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1100" y="1011938"/>
            <a:ext cx="2717400" cy="15550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600" y="1011938"/>
            <a:ext cx="2717400" cy="1555075"/>
          </a:xfrm>
          <a:prstGeom prst="rect">
            <a:avLst/>
          </a:prstGeom>
        </p:spPr>
      </p:pic>
      <p:sp>
        <p:nvSpPr>
          <p:cNvPr id="10" name="Text 0"/>
          <p:cNvSpPr txBox="1"/>
          <p:nvPr/>
        </p:nvSpPr>
        <p:spPr>
          <a:xfrm>
            <a:off x="356600" y="360000"/>
            <a:ext cx="8426700" cy="49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4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Механическая обработка: основные принципы и примеры применения
</a:t>
            </a:r>
            <a:endParaRPr lang="en-US" sz="2443" dirty="0"/>
          </a:p>
        </p:txBody>
      </p:sp>
      <p:sp>
        <p:nvSpPr>
          <p:cNvPr id="11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2" name="Text 2"/>
          <p:cNvSpPr txBox="1"/>
          <p:nvPr/>
        </p:nvSpPr>
        <p:spPr>
          <a:xfrm>
            <a:off x="3378100" y="3241450"/>
            <a:ext cx="2389200" cy="139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 создания отверстий с помощью сверл обладает высокой точностью и применяется в машиностроении. Использование станков с ЧПУ ускоряет и упрощает операции.
</a:t>
            </a:r>
            <a:endParaRPr lang="en-US" sz="1200" dirty="0"/>
          </a:p>
        </p:txBody>
      </p:sp>
      <p:sp>
        <p:nvSpPr>
          <p:cNvPr id="13" name="Text 3"/>
          <p:cNvSpPr txBox="1"/>
          <p:nvPr/>
        </p:nvSpPr>
        <p:spPr>
          <a:xfrm>
            <a:off x="3378150" y="2783675"/>
            <a:ext cx="2389200" cy="40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Сверление и сверлильные технологии
</a:t>
            </a:r>
            <a:endParaRPr lang="en-US" sz="1400" dirty="0"/>
          </a:p>
        </p:txBody>
      </p:sp>
      <p:sp>
        <p:nvSpPr>
          <p:cNvPr id="14" name="Text 4"/>
          <p:cNvSpPr txBox="1"/>
          <p:nvPr/>
        </p:nvSpPr>
        <p:spPr>
          <a:xfrm>
            <a:off x="6233550" y="3241450"/>
            <a:ext cx="2389200" cy="139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Компьютерное управление станками позволяет выполнять сложные задачи с минимальным человеческим участием, повышая качество и снижая дефекты на производстве.
</a:t>
            </a:r>
            <a:endParaRPr lang="en-US" sz="1200" dirty="0"/>
          </a:p>
        </p:txBody>
      </p:sp>
      <p:sp>
        <p:nvSpPr>
          <p:cNvPr id="15" name="Text 5"/>
          <p:cNvSpPr txBox="1"/>
          <p:nvPr/>
        </p:nvSpPr>
        <p:spPr>
          <a:xfrm>
            <a:off x="6233600" y="2783675"/>
            <a:ext cx="2389200" cy="40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Современные станки и автоматизация
</a:t>
            </a:r>
            <a:endParaRPr lang="en-US" sz="1400" dirty="0"/>
          </a:p>
        </p:txBody>
      </p:sp>
      <p:sp>
        <p:nvSpPr>
          <p:cNvPr id="16" name="Text 6"/>
          <p:cNvSpPr txBox="1"/>
          <p:nvPr/>
        </p:nvSpPr>
        <p:spPr>
          <a:xfrm>
            <a:off x="521050" y="3241450"/>
            <a:ext cx="2389200" cy="139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Механическая обработка предполагает удаление материала режущими инструментами. Металлообработка и деревообработка широко используют эти методы для придания точной формы и гладкости поверхностей.
</a:t>
            </a:r>
            <a:endParaRPr lang="en-US" sz="1200" dirty="0"/>
          </a:p>
        </p:txBody>
      </p:sp>
      <p:sp>
        <p:nvSpPr>
          <p:cNvPr id="17" name="Text 7"/>
          <p:cNvSpPr txBox="1"/>
          <p:nvPr/>
        </p:nvSpPr>
        <p:spPr>
          <a:xfrm>
            <a:off x="521100" y="2783675"/>
            <a:ext cx="2389200" cy="40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Резка и шлифование
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75" y="1310707"/>
            <a:ext cx="4130100" cy="346318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356600" y="360000"/>
            <a:ext cx="8426700" cy="88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Применение технологий обработки по отраслям
</a:t>
            </a:r>
            <a:endParaRPr lang="en-US" sz="3000" dirty="0"/>
          </a:p>
        </p:txBody>
      </p:sp>
      <p:sp>
        <p:nvSpPr>
          <p:cNvPr id="8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Text 2"/>
          <p:cNvSpPr txBox="1"/>
          <p:nvPr/>
        </p:nvSpPr>
        <p:spPr>
          <a:xfrm>
            <a:off x="4642400" y="4481675"/>
            <a:ext cx="4144800" cy="301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Отчёты отраслевых исследований, 2023
</a:t>
            </a:r>
            <a:endParaRPr lang="en-US" sz="1200" dirty="0"/>
          </a:p>
        </p:txBody>
      </p:sp>
      <p:sp>
        <p:nvSpPr>
          <p:cNvPr id="10" name="Text 3"/>
          <p:cNvSpPr txBox="1"/>
          <p:nvPr/>
        </p:nvSpPr>
        <p:spPr>
          <a:xfrm>
            <a:off x="4878350" y="1564825"/>
            <a:ext cx="3672900" cy="13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Обнаружен рост автоматизированных и комбинированных методов за последние два десятилетия.
</a:t>
            </a:r>
            <a:endParaRPr lang="en-US" sz="1400" dirty="0"/>
          </a:p>
        </p:txBody>
      </p:sp>
      <p:sp>
        <p:nvSpPr>
          <p:cNvPr id="11" name="Text 4"/>
          <p:cNvSpPr txBox="1"/>
          <p:nvPr/>
        </p:nvSpPr>
        <p:spPr>
          <a:xfrm>
            <a:off x="4878350" y="2945950"/>
            <a:ext cx="3672900" cy="13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Доминирование механической обработки в машиностроении и строительстве сочетается с интенсивным применением химических методов в химической промышленности.
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356600" y="360000"/>
            <a:ext cx="8426700" cy="88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Термическая обработка: категории и их влияние на свойства материалов
</a:t>
            </a:r>
            <a:endParaRPr lang="en-US" sz="3000" dirty="0"/>
          </a:p>
        </p:txBody>
      </p:sp>
      <p:sp>
        <p:nvSpPr>
          <p:cNvPr id="9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10" name="Text 2"/>
          <p:cNvSpPr txBox="1"/>
          <p:nvPr/>
        </p:nvSpPr>
        <p:spPr>
          <a:xfrm>
            <a:off x="655350" y="1825125"/>
            <a:ext cx="2126700" cy="254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Отжиг смягчает структуру металлов, снижая внутренние напряжения и повышая пластичность, что улучшает обрабатываемость изделий.
</a:t>
            </a:r>
            <a:endParaRPr lang="en-US" sz="1400" dirty="0"/>
          </a:p>
        </p:txBody>
      </p:sp>
      <p:sp>
        <p:nvSpPr>
          <p:cNvPr id="11" name="Text 3"/>
          <p:cNvSpPr txBox="1"/>
          <p:nvPr/>
        </p:nvSpPr>
        <p:spPr>
          <a:xfrm>
            <a:off x="3510200" y="1825125"/>
            <a:ext cx="2126700" cy="254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Закалка обеспечивает значительное повышение прочности и твердости металлов за счёт быстрого охлаждения после нагрева выше критической температуры.
</a:t>
            </a:r>
            <a:endParaRPr lang="en-US" sz="1400" dirty="0"/>
          </a:p>
        </p:txBody>
      </p:sp>
      <p:sp>
        <p:nvSpPr>
          <p:cNvPr id="12" name="Text 4"/>
          <p:cNvSpPr txBox="1"/>
          <p:nvPr/>
        </p:nvSpPr>
        <p:spPr>
          <a:xfrm>
            <a:off x="6365050" y="1825125"/>
            <a:ext cx="2126700" cy="254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Отпуск уменьшает хрупкость после закалки, улучшая ударную вязкость и долговечность металлоконструкций при эксплуатации.
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750" y="1144195"/>
            <a:ext cx="3430800" cy="201358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450" y="1144195"/>
            <a:ext cx="3430800" cy="201358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 0"/>
          <p:cNvSpPr txBox="1"/>
          <p:nvPr/>
        </p:nvSpPr>
        <p:spPr>
          <a:xfrm>
            <a:off x="356600" y="360000"/>
            <a:ext cx="8426700" cy="47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35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Химические методы обработки материалов: процессы и примеры
</a:t>
            </a:r>
            <a:endParaRPr lang="en-US" sz="2358" dirty="0"/>
          </a:p>
        </p:txBody>
      </p:sp>
      <p:sp>
        <p:nvSpPr>
          <p:cNvPr id="11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12" name="Text 2"/>
          <p:cNvSpPr txBox="1"/>
          <p:nvPr/>
        </p:nvSpPr>
        <p:spPr>
          <a:xfrm>
            <a:off x="1008426" y="3825225"/>
            <a:ext cx="3430800" cy="951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используется для удаления оксидных слоёв и загрязнений с помощью кислотных растворов, обеспечивая подготовку поверхности для последующей обработки или покрытия.
</a:t>
            </a:r>
            <a:endParaRPr lang="en-US" sz="1200" dirty="0"/>
          </a:p>
        </p:txBody>
      </p:sp>
      <p:sp>
        <p:nvSpPr>
          <p:cNvPr id="13" name="Text 3"/>
          <p:cNvSpPr txBox="1"/>
          <p:nvPr/>
        </p:nvSpPr>
        <p:spPr>
          <a:xfrm>
            <a:off x="1008512" y="3344000"/>
            <a:ext cx="3430800" cy="43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Травление металлических поверхностей
</a:t>
            </a:r>
            <a:endParaRPr lang="en-US" sz="1400" dirty="0"/>
          </a:p>
        </p:txBody>
      </p:sp>
      <p:sp>
        <p:nvSpPr>
          <p:cNvPr id="14" name="Text 4"/>
          <p:cNvSpPr txBox="1"/>
          <p:nvPr/>
        </p:nvSpPr>
        <p:spPr>
          <a:xfrm>
            <a:off x="4714126" y="3825225"/>
            <a:ext cx="3430800" cy="951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Процессы обеспечивают защиту изделий от коррозии и придают функциональные свойства, например, нанесение хромового слоя для износостойкости деталей.
</a:t>
            </a:r>
            <a:endParaRPr lang="en-US" sz="1200" dirty="0"/>
          </a:p>
        </p:txBody>
      </p:sp>
      <p:sp>
        <p:nvSpPr>
          <p:cNvPr id="15" name="Text 5"/>
          <p:cNvSpPr txBox="1"/>
          <p:nvPr/>
        </p:nvSpPr>
        <p:spPr>
          <a:xfrm>
            <a:off x="4714212" y="3344000"/>
            <a:ext cx="3430800" cy="43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Пассивация и гальванизация
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75" y="2226690"/>
            <a:ext cx="4843800" cy="163122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356600" y="360000"/>
            <a:ext cx="8426700" cy="88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Технические параметры термической обработки различных сталей
</a:t>
            </a:r>
            <a:endParaRPr lang="en-US" sz="3000" dirty="0"/>
          </a:p>
        </p:txBody>
      </p:sp>
      <p:sp>
        <p:nvSpPr>
          <p:cNvPr id="8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9" name="Text 2"/>
          <p:cNvSpPr txBox="1"/>
          <p:nvPr/>
        </p:nvSpPr>
        <p:spPr>
          <a:xfrm>
            <a:off x="356600" y="4423500"/>
            <a:ext cx="34308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ГОСТ и ISO стандарты
</a:t>
            </a:r>
            <a:endParaRPr lang="en-US" sz="1400" dirty="0"/>
          </a:p>
        </p:txBody>
      </p:sp>
      <p:sp>
        <p:nvSpPr>
          <p:cNvPr id="10" name="Text 3"/>
          <p:cNvSpPr txBox="1"/>
          <p:nvPr/>
        </p:nvSpPr>
        <p:spPr>
          <a:xfrm>
            <a:off x="655350" y="1595275"/>
            <a:ext cx="2884200" cy="109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Температурные режимы, время выдержки и охлаждающие среды с их влиянием на свойства стали.
</a:t>
            </a:r>
            <a:endParaRPr lang="en-US" sz="1400" dirty="0"/>
          </a:p>
        </p:txBody>
      </p:sp>
      <p:sp>
        <p:nvSpPr>
          <p:cNvPr id="11" name="Text 4"/>
          <p:cNvSpPr txBox="1"/>
          <p:nvPr/>
        </p:nvSpPr>
        <p:spPr>
          <a:xfrm>
            <a:off x="655350" y="3164625"/>
            <a:ext cx="2884200" cy="109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Правильный выбор режимов обеспечивает оптимальные механические свойства и износостойкость изделий.
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75" y="1310707"/>
            <a:ext cx="4130100" cy="346318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356600" y="360000"/>
            <a:ext cx="8426700" cy="88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 технологических параметров на качество обработки
</a:t>
            </a:r>
            <a:endParaRPr lang="en-US" sz="3000" dirty="0"/>
          </a:p>
        </p:txBody>
      </p:sp>
      <p:sp>
        <p:nvSpPr>
          <p:cNvPr id="8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9" name="Text 2"/>
          <p:cNvSpPr txBox="1"/>
          <p:nvPr/>
        </p:nvSpPr>
        <p:spPr>
          <a:xfrm>
            <a:off x="4642400" y="4481675"/>
            <a:ext cx="4144800" cy="301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Лабораторные исследования, 2022
</a:t>
            </a:r>
            <a:endParaRPr lang="en-US" sz="1200" dirty="0"/>
          </a:p>
        </p:txBody>
      </p:sp>
      <p:sp>
        <p:nvSpPr>
          <p:cNvPr id="10" name="Text 3"/>
          <p:cNvSpPr txBox="1"/>
          <p:nvPr/>
        </p:nvSpPr>
        <p:spPr>
          <a:xfrm>
            <a:off x="4878350" y="1564825"/>
            <a:ext cx="3672900" cy="13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Оптимальные режимы обеспечивают минимальную шероховатость и высокую точность обработки изделий.
</a:t>
            </a:r>
            <a:endParaRPr lang="en-US" sz="1400" dirty="0"/>
          </a:p>
        </p:txBody>
      </p:sp>
      <p:sp>
        <p:nvSpPr>
          <p:cNvPr id="11" name="Text 4"/>
          <p:cNvSpPr txBox="1"/>
          <p:nvPr/>
        </p:nvSpPr>
        <p:spPr>
          <a:xfrm>
            <a:off x="4878350" y="2945950"/>
            <a:ext cx="3672900" cy="13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Слишком высокая скорость и подача приводят к увеличению дефектов и потере качества поверхности.
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356600" y="360000"/>
            <a:ext cx="8426700" cy="88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Механические методы обработки: классификация и инструменты
</a:t>
            </a:r>
            <a:endParaRPr lang="en-US" sz="3000" dirty="0"/>
          </a:p>
        </p:txBody>
      </p:sp>
      <p:sp>
        <p:nvSpPr>
          <p:cNvPr id="9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10" name="Text 2"/>
          <p:cNvSpPr txBox="1"/>
          <p:nvPr/>
        </p:nvSpPr>
        <p:spPr>
          <a:xfrm>
            <a:off x="360250" y="2426025"/>
            <a:ext cx="2003400" cy="23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Резка — удаление материала с помощью режущих инструментов, таких как пилы и ножи, применяется в металло- и деревообработке, обеспечивая формирование деталей заданной формы.
</a:t>
            </a:r>
            <a:endParaRPr lang="en-US" sz="1400" dirty="0"/>
          </a:p>
        </p:txBody>
      </p:sp>
      <p:sp>
        <p:nvSpPr>
          <p:cNvPr id="11" name="Text 3"/>
          <p:cNvSpPr txBox="1"/>
          <p:nvPr/>
        </p:nvSpPr>
        <p:spPr>
          <a:xfrm>
            <a:off x="2501300" y="2426025"/>
            <a:ext cx="2003400" cy="23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Штамповка используется для массового формирования металлических деталей, включает прессование и вырубку; оборудование варьируется от гидравлических прессов до высокоточных пресс-станков.
</a:t>
            </a:r>
            <a:endParaRPr lang="en-US" sz="1400" dirty="0"/>
          </a:p>
        </p:txBody>
      </p:sp>
      <p:sp>
        <p:nvSpPr>
          <p:cNvPr id="12" name="Text 4"/>
          <p:cNvSpPr txBox="1"/>
          <p:nvPr/>
        </p:nvSpPr>
        <p:spPr>
          <a:xfrm>
            <a:off x="4642350" y="2426025"/>
            <a:ext cx="2003400" cy="23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Шлифование представляет собой тонкую обработку поверхности с применением абразивных кругов, что позволяет достичь высокой точности и улучшить качество поверхности изделий.
</a:t>
            </a:r>
            <a:endParaRPr lang="en-US" sz="1400" dirty="0"/>
          </a:p>
        </p:txBody>
      </p:sp>
      <p:sp>
        <p:nvSpPr>
          <p:cNvPr id="13" name="Text 5"/>
          <p:cNvSpPr txBox="1"/>
          <p:nvPr/>
        </p:nvSpPr>
        <p:spPr>
          <a:xfrm>
            <a:off x="6783400" y="2426025"/>
            <a:ext cx="2003400" cy="23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Литье под давлением применяет формообразующий процесс с вводом расплавленного металла в форму под высоким давлением, широко используется в авиационной и автомобильной промышленности с твердосплавными режущими пластинами для чистовой обработки.
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162" y="1011845"/>
            <a:ext cx="3432300" cy="155526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0137" y="1011845"/>
            <a:ext cx="3432300" cy="1555261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356600" y="360000"/>
            <a:ext cx="8426700" cy="49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4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Современные методы высокой точности в обработке материалов
</a:t>
            </a:r>
            <a:endParaRPr lang="en-US" sz="2443" dirty="0"/>
          </a:p>
        </p:txBody>
      </p:sp>
      <p:sp>
        <p:nvSpPr>
          <p:cNvPr id="9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10" name="Text 2"/>
          <p:cNvSpPr txBox="1"/>
          <p:nvPr/>
        </p:nvSpPr>
        <p:spPr>
          <a:xfrm>
            <a:off x="1235613" y="3241450"/>
            <a:ext cx="3119100" cy="139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Лазерная резка обеспечивает минимальное тепловое воздействие на материал, позволяя выполнять сложные контуры с высокой скоростью. Применяется в микроэлектронике для изготовления мелких компонентов.
</a:t>
            </a:r>
            <a:endParaRPr lang="en-US" sz="1200" dirty="0"/>
          </a:p>
        </p:txBody>
      </p:sp>
      <p:sp>
        <p:nvSpPr>
          <p:cNvPr id="11" name="Text 3"/>
          <p:cNvSpPr txBox="1"/>
          <p:nvPr/>
        </p:nvSpPr>
        <p:spPr>
          <a:xfrm>
            <a:off x="1235678" y="2783675"/>
            <a:ext cx="3119100" cy="40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Лазерная резка: точность и универсальность
</a:t>
            </a:r>
            <a:endParaRPr lang="en-US" sz="1400" dirty="0"/>
          </a:p>
        </p:txBody>
      </p:sp>
      <p:sp>
        <p:nvSpPr>
          <p:cNvPr id="12" name="Text 4"/>
          <p:cNvSpPr txBox="1"/>
          <p:nvPr/>
        </p:nvSpPr>
        <p:spPr>
          <a:xfrm>
            <a:off x="4802588" y="3241450"/>
            <a:ext cx="3119100" cy="139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Электроэрозионные методы удаляют материал с помощью электрических разрядов, обеспечивая высокую точность и чистоту обработанной поверхности. Используется при производстве медицинского оборудования и сложных металлических деталей.
</a:t>
            </a:r>
            <a:endParaRPr lang="en-US" sz="1200" dirty="0"/>
          </a:p>
        </p:txBody>
      </p:sp>
      <p:sp>
        <p:nvSpPr>
          <p:cNvPr id="13" name="Text 5"/>
          <p:cNvSpPr txBox="1"/>
          <p:nvPr/>
        </p:nvSpPr>
        <p:spPr>
          <a:xfrm>
            <a:off x="4802653" y="2783675"/>
            <a:ext cx="3119100" cy="40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Электроэрозионная обработка: прецизионный контроль
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75" y="2052170"/>
            <a:ext cx="4843800" cy="1980259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356600" y="360000"/>
            <a:ext cx="8426700" cy="88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94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Сравнительная характеристика традиционных и современных методов обработки
</a:t>
            </a:r>
            <a:endParaRPr lang="en-US" sz="2941" dirty="0"/>
          </a:p>
        </p:txBody>
      </p:sp>
      <p:sp>
        <p:nvSpPr>
          <p:cNvPr id="6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Text 2"/>
          <p:cNvSpPr txBox="1"/>
          <p:nvPr/>
        </p:nvSpPr>
        <p:spPr>
          <a:xfrm>
            <a:off x="5356100" y="1310700"/>
            <a:ext cx="3430800" cy="1092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отражает основные критерии оценки методов: точность, производительность, экономичность и экологичность. Современные технологии демонстрируют улучшенные показатели по всем параметрам.
</a:t>
            </a:r>
            <a:endParaRPr lang="en-US" sz="1400" dirty="0"/>
          </a:p>
        </p:txBody>
      </p:sp>
      <p:sp>
        <p:nvSpPr>
          <p:cNvPr id="8" name="Text 3"/>
          <p:cNvSpPr txBox="1"/>
          <p:nvPr/>
        </p:nvSpPr>
        <p:spPr>
          <a:xfrm>
            <a:off x="5356100" y="2571750"/>
            <a:ext cx="3430800" cy="109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Современные методы обеспечивают значительный рост качества и устойчивости производства при оптимальной себестоимости.
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5356100" y="4225200"/>
            <a:ext cx="3430800" cy="558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Аналитический обзор Института материаловедения, 2023
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75" y="1310707"/>
            <a:ext cx="4130100" cy="346318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356600" y="360000"/>
            <a:ext cx="8426700" cy="88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автоматизации в технологиях обработки материалов
</a:t>
            </a:r>
            <a:endParaRPr lang="en-US" sz="3000" dirty="0"/>
          </a:p>
        </p:txBody>
      </p:sp>
      <p:sp>
        <p:nvSpPr>
          <p:cNvPr id="8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9" name="Text 2"/>
          <p:cNvSpPr txBox="1"/>
          <p:nvPr/>
        </p:nvSpPr>
        <p:spPr>
          <a:xfrm>
            <a:off x="4642400" y="4481675"/>
            <a:ext cx="4144800" cy="301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Отчет промышленного мониторинга, 2023
</a:t>
            </a:r>
            <a:endParaRPr lang="en-US" sz="1200" dirty="0"/>
          </a:p>
        </p:txBody>
      </p:sp>
      <p:sp>
        <p:nvSpPr>
          <p:cNvPr id="10" name="Text 3"/>
          <p:cNvSpPr txBox="1"/>
          <p:nvPr/>
        </p:nvSpPr>
        <p:spPr>
          <a:xfrm>
            <a:off x="4878350" y="1564825"/>
            <a:ext cx="3672900" cy="13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Современные производственные линии интенсивно интегрируют роботов и ЧПУ, что повышает стабильность процессов.
</a:t>
            </a:r>
            <a:endParaRPr lang="en-US" sz="1400" dirty="0"/>
          </a:p>
        </p:txBody>
      </p:sp>
      <p:sp>
        <p:nvSpPr>
          <p:cNvPr id="11" name="Text 4"/>
          <p:cNvSpPr txBox="1"/>
          <p:nvPr/>
        </p:nvSpPr>
        <p:spPr>
          <a:xfrm>
            <a:off x="4878350" y="2945950"/>
            <a:ext cx="3672900" cy="13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Тренд показывает устойчивое увеличение автоматизации с прогнозом на полное внедрение ИИ в ближайшее десятилетие.
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356600" y="360000"/>
            <a:ext cx="8426700" cy="88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Факторы, влияющие на выбор технологии обработки
</a:t>
            </a:r>
            <a:endParaRPr lang="en-US" sz="3000" dirty="0"/>
          </a:p>
        </p:txBody>
      </p:sp>
      <p:sp>
        <p:nvSpPr>
          <p:cNvPr id="8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9" name="Text 2"/>
          <p:cNvSpPr txBox="1"/>
          <p:nvPr/>
        </p:nvSpPr>
        <p:spPr>
          <a:xfrm>
            <a:off x="514750" y="2592369"/>
            <a:ext cx="2562600" cy="20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Свойства материала определяют пригодность методов: твердость, пластичность и химическая стойкость влияют на выбор оптимального способа обработки.
</a:t>
            </a:r>
            <a:endParaRPr lang="en-US" sz="1400" dirty="0"/>
          </a:p>
        </p:txBody>
      </p:sp>
      <p:sp>
        <p:nvSpPr>
          <p:cNvPr id="10" name="Text 3"/>
          <p:cNvSpPr txBox="1"/>
          <p:nvPr/>
        </p:nvSpPr>
        <p:spPr>
          <a:xfrm>
            <a:off x="3367925" y="2592369"/>
            <a:ext cx="2562600" cy="20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Конечное назначение изделия требует учета требований к точности, прочности и внешнему виду, что корректирует технологические решения.
</a:t>
            </a:r>
            <a:endParaRPr lang="en-US" sz="1400" dirty="0"/>
          </a:p>
        </p:txBody>
      </p:sp>
      <p:sp>
        <p:nvSpPr>
          <p:cNvPr id="11" name="Text 4"/>
          <p:cNvSpPr txBox="1"/>
          <p:nvPr/>
        </p:nvSpPr>
        <p:spPr>
          <a:xfrm>
            <a:off x="6221100" y="2592369"/>
            <a:ext cx="2562600" cy="20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Экономические показатели и доступность оборудования играют ключевую роль в выборе технологии для обеспечения рентабельности производства.
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100" y="1499534"/>
            <a:ext cx="5641800" cy="203303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356600" y="360000"/>
            <a:ext cx="8426700" cy="88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Экологические аспекты технологий обработки материалов
</a:t>
            </a:r>
            <a:endParaRPr lang="en-US" sz="3000" dirty="0"/>
          </a:p>
        </p:txBody>
      </p:sp>
      <p:sp>
        <p:nvSpPr>
          <p:cNvPr id="7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  <p:sp>
        <p:nvSpPr>
          <p:cNvPr id="8" name="Text 2"/>
          <p:cNvSpPr txBox="1"/>
          <p:nvPr/>
        </p:nvSpPr>
        <p:spPr>
          <a:xfrm>
            <a:off x="356600" y="3673450"/>
            <a:ext cx="4148100" cy="109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Энергопотребление в процессе обработки значительно влияет на общий экологический след производства, стимулируя внедрение энергоэффективных технологий.
</a:t>
            </a:r>
            <a:endParaRPr lang="en-US" sz="1400" dirty="0"/>
          </a:p>
        </p:txBody>
      </p:sp>
      <p:sp>
        <p:nvSpPr>
          <p:cNvPr id="9" name="Text 3"/>
          <p:cNvSpPr txBox="1"/>
          <p:nvPr/>
        </p:nvSpPr>
        <p:spPr>
          <a:xfrm>
            <a:off x="4642400" y="3673450"/>
            <a:ext cx="4148100" cy="109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Выделение отходов и токсичных веществ требует внедрения систем очистки и использования безопасных химических реагентов для минимизации воздействия на окружающую среду.
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75" y="2141211"/>
            <a:ext cx="4843800" cy="180217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356600" y="360000"/>
            <a:ext cx="8426700" cy="88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Эффективность технологических процессов обработки
</a:t>
            </a:r>
            <a:endParaRPr lang="en-US" sz="3000" dirty="0"/>
          </a:p>
        </p:txBody>
      </p:sp>
      <p:sp>
        <p:nvSpPr>
          <p:cNvPr id="8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  <p:sp>
        <p:nvSpPr>
          <p:cNvPr id="9" name="Text 2"/>
          <p:cNvSpPr txBox="1"/>
          <p:nvPr/>
        </p:nvSpPr>
        <p:spPr>
          <a:xfrm>
            <a:off x="356600" y="4423500"/>
            <a:ext cx="34308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Отраслевые отчеты 2023
</a:t>
            </a:r>
            <a:endParaRPr lang="en-US" sz="1400" dirty="0"/>
          </a:p>
        </p:txBody>
      </p:sp>
      <p:sp>
        <p:nvSpPr>
          <p:cNvPr id="10" name="Text 3"/>
          <p:cNvSpPr txBox="1"/>
          <p:nvPr/>
        </p:nvSpPr>
        <p:spPr>
          <a:xfrm>
            <a:off x="655350" y="1595275"/>
            <a:ext cx="2884200" cy="109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отражает показатели производительности, использования материалов и энергозатрат для основных методов обработки, что позволяет выделить оптимальные технологии.
</a:t>
            </a:r>
            <a:endParaRPr lang="en-US" sz="1400" dirty="0"/>
          </a:p>
        </p:txBody>
      </p:sp>
      <p:sp>
        <p:nvSpPr>
          <p:cNvPr id="11" name="Text 4"/>
          <p:cNvSpPr txBox="1"/>
          <p:nvPr/>
        </p:nvSpPr>
        <p:spPr>
          <a:xfrm>
            <a:off x="655350" y="3164625"/>
            <a:ext cx="2884200" cy="109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Лазерная и термическая обработка демонстрируют высокий КПД при сбалансированных энергозатратах.
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75" y="1310707"/>
            <a:ext cx="4130100" cy="346318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356600" y="360000"/>
            <a:ext cx="8426700" cy="88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точности изготовления разных технологий
</a:t>
            </a:r>
            <a:endParaRPr lang="en-US" sz="3000" dirty="0"/>
          </a:p>
        </p:txBody>
      </p:sp>
      <p:sp>
        <p:nvSpPr>
          <p:cNvPr id="8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  <p:sp>
        <p:nvSpPr>
          <p:cNvPr id="9" name="Text 2"/>
          <p:cNvSpPr txBox="1"/>
          <p:nvPr/>
        </p:nvSpPr>
        <p:spPr>
          <a:xfrm>
            <a:off x="4642400" y="4481675"/>
            <a:ext cx="4144800" cy="301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Исследование Фонда точного машиностроения, 2022
</a:t>
            </a:r>
            <a:endParaRPr lang="en-US" sz="1200" dirty="0"/>
          </a:p>
        </p:txBody>
      </p:sp>
      <p:sp>
        <p:nvSpPr>
          <p:cNvPr id="10" name="Text 3"/>
          <p:cNvSpPr txBox="1"/>
          <p:nvPr/>
        </p:nvSpPr>
        <p:spPr>
          <a:xfrm>
            <a:off x="4878350" y="1564825"/>
            <a:ext cx="3672900" cy="13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Электроэрозионная обработка позволяет достигать максимальной точности с допусками до нескольких микрон.
</a:t>
            </a:r>
            <a:endParaRPr lang="en-US" sz="1400" dirty="0"/>
          </a:p>
        </p:txBody>
      </p:sp>
      <p:sp>
        <p:nvSpPr>
          <p:cNvPr id="11" name="Text 4"/>
          <p:cNvSpPr txBox="1"/>
          <p:nvPr/>
        </p:nvSpPr>
        <p:spPr>
          <a:xfrm>
            <a:off x="4878350" y="2945950"/>
            <a:ext cx="3672900" cy="13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технологии существенно влияет на допуски, что критично для требований высокой точности.
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363400" y="360000"/>
            <a:ext cx="6293100" cy="108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Комбинированные технологии обработки материалов
</a:t>
            </a:r>
            <a:endParaRPr lang="en-US" sz="3000" dirty="0"/>
          </a:p>
        </p:txBody>
      </p:sp>
      <p:sp>
        <p:nvSpPr>
          <p:cNvPr id="8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  <p:sp>
        <p:nvSpPr>
          <p:cNvPr id="9" name="Text 2"/>
          <p:cNvSpPr txBox="1"/>
          <p:nvPr/>
        </p:nvSpPr>
        <p:spPr>
          <a:xfrm>
            <a:off x="2785200" y="1736325"/>
            <a:ext cx="5288100" cy="7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Сочетание термической закалки и последующей механической шлифовки повышает прочность и улучшает качество поверхности изделий.
</a:t>
            </a:r>
            <a:endParaRPr lang="en-US" sz="1400" dirty="0"/>
          </a:p>
        </p:txBody>
      </p:sp>
      <p:sp>
        <p:nvSpPr>
          <p:cNvPr id="10" name="Text 3"/>
          <p:cNvSpPr txBox="1"/>
          <p:nvPr/>
        </p:nvSpPr>
        <p:spPr>
          <a:xfrm>
            <a:off x="2785200" y="3959750"/>
            <a:ext cx="5288100" cy="7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Использование комбинированных методов расширяет технологические возможности, создавая уникальные свойства материала, недоступные при отдельной обработке.
</a:t>
            </a:r>
            <a:endParaRPr lang="en-US" sz="1400" dirty="0"/>
          </a:p>
        </p:txBody>
      </p:sp>
      <p:sp>
        <p:nvSpPr>
          <p:cNvPr id="11" name="Text 4"/>
          <p:cNvSpPr txBox="1"/>
          <p:nvPr/>
        </p:nvSpPr>
        <p:spPr>
          <a:xfrm>
            <a:off x="2785200" y="2848038"/>
            <a:ext cx="5288100" cy="7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Химико-термическая обработка позволяет одновременно улучшать коррозионную стойкость и износоустойчивость деталей.
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831" y="1145868"/>
            <a:ext cx="2604388" cy="20163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0600" y="1145959"/>
            <a:ext cx="2606700" cy="201612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68794" y="1145868"/>
            <a:ext cx="2604388" cy="20163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" name="Text 0"/>
          <p:cNvSpPr txBox="1"/>
          <p:nvPr/>
        </p:nvSpPr>
        <p:spPr>
          <a:xfrm>
            <a:off x="356600" y="360000"/>
            <a:ext cx="8426700" cy="47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35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 внедрения технологий обработки в промышленности
</a:t>
            </a:r>
            <a:endParaRPr lang="en-US" sz="2358" dirty="0"/>
          </a:p>
        </p:txBody>
      </p:sp>
      <p:sp>
        <p:nvSpPr>
          <p:cNvPr id="14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15" name="Text 2"/>
          <p:cNvSpPr txBox="1"/>
          <p:nvPr/>
        </p:nvSpPr>
        <p:spPr>
          <a:xfrm>
            <a:off x="360200" y="3822250"/>
            <a:ext cx="2717100" cy="951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Производство двигателей включает высокоточное литье и последующую механическую обработку, обеспечивая оптимальные характеристики деталей и долговечность работы автомобиля.
</a:t>
            </a:r>
            <a:endParaRPr lang="en-US" sz="1200" dirty="0"/>
          </a:p>
        </p:txBody>
      </p:sp>
      <p:sp>
        <p:nvSpPr>
          <p:cNvPr id="16" name="Text 3"/>
          <p:cNvSpPr txBox="1"/>
          <p:nvPr/>
        </p:nvSpPr>
        <p:spPr>
          <a:xfrm>
            <a:off x="360268" y="3341025"/>
            <a:ext cx="2717100" cy="43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Точное литье и механическая обработка в автомобилестроении
</a:t>
            </a:r>
            <a:endParaRPr lang="en-US" sz="1400" dirty="0"/>
          </a:p>
        </p:txBody>
      </p:sp>
      <p:sp>
        <p:nvSpPr>
          <p:cNvPr id="17" name="Text 4"/>
          <p:cNvSpPr txBox="1"/>
          <p:nvPr/>
        </p:nvSpPr>
        <p:spPr>
          <a:xfrm>
            <a:off x="6066125" y="3822250"/>
            <a:ext cx="2717100" cy="951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Сборочные линии комбинируют различные методы обработки, обеспечивая высокую производительность благодаря автоматизации и синхронизации процессов.
</a:t>
            </a:r>
            <a:endParaRPr lang="en-US" sz="1200" dirty="0"/>
          </a:p>
        </p:txBody>
      </p:sp>
      <p:sp>
        <p:nvSpPr>
          <p:cNvPr id="18" name="Text 5"/>
          <p:cNvSpPr txBox="1"/>
          <p:nvPr/>
        </p:nvSpPr>
        <p:spPr>
          <a:xfrm>
            <a:off x="6066193" y="3341025"/>
            <a:ext cx="2717100" cy="43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Организация сборочной линии с интегрированными технологиями
</a:t>
            </a:r>
            <a:endParaRPr lang="en-US" sz="1400" dirty="0"/>
          </a:p>
        </p:txBody>
      </p:sp>
      <p:sp>
        <p:nvSpPr>
          <p:cNvPr id="19" name="Text 6"/>
          <p:cNvSpPr txBox="1"/>
          <p:nvPr/>
        </p:nvSpPr>
        <p:spPr>
          <a:xfrm>
            <a:off x="3213162" y="3822250"/>
            <a:ext cx="2717100" cy="951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Изготовление компонентов требует использования фотолитографии для точного формообразования и химического травления для удаления излишков материала с высокой точностью.
</a:t>
            </a:r>
            <a:endParaRPr lang="en-US" sz="1200" dirty="0"/>
          </a:p>
        </p:txBody>
      </p:sp>
      <p:sp>
        <p:nvSpPr>
          <p:cNvPr id="20" name="Text 7"/>
          <p:cNvSpPr txBox="1"/>
          <p:nvPr/>
        </p:nvSpPr>
        <p:spPr>
          <a:xfrm>
            <a:off x="3213230" y="3341025"/>
            <a:ext cx="2717100" cy="43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Микроэлектроника: фотолитография и химическое травление
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ext 0"/>
          <p:cNvSpPr txBox="1"/>
          <p:nvPr/>
        </p:nvSpPr>
        <p:spPr>
          <a:xfrm>
            <a:off x="356600" y="360000"/>
            <a:ext cx="8426700" cy="88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информационных технологий и цифровизации в обработке материалов
</a:t>
            </a:r>
            <a:endParaRPr lang="en-US" sz="3000" dirty="0"/>
          </a:p>
        </p:txBody>
      </p:sp>
      <p:sp>
        <p:nvSpPr>
          <p:cNvPr id="10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  <p:sp>
        <p:nvSpPr>
          <p:cNvPr id="11" name="Text 2"/>
          <p:cNvSpPr txBox="1"/>
          <p:nvPr/>
        </p:nvSpPr>
        <p:spPr>
          <a:xfrm>
            <a:off x="655350" y="1562800"/>
            <a:ext cx="3548400" cy="109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CAD/CAM-системы обеспечивают точное моделирование и автоматизацию производственных процессов, что существенно сокращает время разработки и снижает вероятность ошибок при обработке материалов.
</a:t>
            </a:r>
            <a:endParaRPr lang="en-US" sz="1400" dirty="0"/>
          </a:p>
        </p:txBody>
      </p:sp>
      <p:sp>
        <p:nvSpPr>
          <p:cNvPr id="12" name="Text 3"/>
          <p:cNvSpPr txBox="1"/>
          <p:nvPr/>
        </p:nvSpPr>
        <p:spPr>
          <a:xfrm>
            <a:off x="655350" y="3382250"/>
            <a:ext cx="3548400" cy="109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Цифровой двойник дает возможность в режиме реального времени контролировать и корректировать рабочие процессы, обеспечивая стабильное качество и повышая производственную эффективность.
</a:t>
            </a:r>
            <a:endParaRPr lang="en-US" sz="1400" dirty="0"/>
          </a:p>
        </p:txBody>
      </p:sp>
      <p:sp>
        <p:nvSpPr>
          <p:cNvPr id="13" name="Text 4"/>
          <p:cNvSpPr txBox="1"/>
          <p:nvPr/>
        </p:nvSpPr>
        <p:spPr>
          <a:xfrm>
            <a:off x="4937550" y="1562800"/>
            <a:ext cx="3548400" cy="109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Моделирование в 3D позволяет проводить виртуальное испытание изделий, оптимизируя технологические параметры до начала фактического производства и минимизируя затраты на доработки.
</a:t>
            </a:r>
            <a:endParaRPr lang="en-US" sz="1400" dirty="0"/>
          </a:p>
        </p:txBody>
      </p:sp>
      <p:sp>
        <p:nvSpPr>
          <p:cNvPr id="14" name="Text 5"/>
          <p:cNvSpPr txBox="1"/>
          <p:nvPr/>
        </p:nvSpPr>
        <p:spPr>
          <a:xfrm>
            <a:off x="4937550" y="3382250"/>
            <a:ext cx="3548400" cy="109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систем контроля качества с анализом данных способствует раннему выявлению дефектов и повышает надежность готовой продукции, что критично для высокоточных отраслей.
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75" y="1310707"/>
            <a:ext cx="4130100" cy="346318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356600" y="360000"/>
            <a:ext cx="8426700" cy="88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 цифровых технологий на производительность
</a:t>
            </a:r>
            <a:endParaRPr lang="en-US" sz="3000" dirty="0"/>
          </a:p>
        </p:txBody>
      </p:sp>
      <p:sp>
        <p:nvSpPr>
          <p:cNvPr id="8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  <p:sp>
        <p:nvSpPr>
          <p:cNvPr id="9" name="Text 2"/>
          <p:cNvSpPr txBox="1"/>
          <p:nvPr/>
        </p:nvSpPr>
        <p:spPr>
          <a:xfrm>
            <a:off x="4642400" y="4481675"/>
            <a:ext cx="4144800" cy="301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Отчет по индустрии автоматизации, 2024
</a:t>
            </a:r>
            <a:endParaRPr lang="en-US" sz="1200" dirty="0"/>
          </a:p>
        </p:txBody>
      </p:sp>
      <p:sp>
        <p:nvSpPr>
          <p:cNvPr id="10" name="Text 3"/>
          <p:cNvSpPr txBox="1"/>
          <p:nvPr/>
        </p:nvSpPr>
        <p:spPr>
          <a:xfrm>
            <a:off x="4878350" y="1564825"/>
            <a:ext cx="3672900" cy="13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Использование автоматизированных систем управления ведет к снижению простоев и оптимизации производственных циклов.
</a:t>
            </a:r>
            <a:endParaRPr lang="en-US" sz="1400" dirty="0"/>
          </a:p>
        </p:txBody>
      </p:sp>
      <p:sp>
        <p:nvSpPr>
          <p:cNvPr id="11" name="Text 4"/>
          <p:cNvSpPr txBox="1"/>
          <p:nvPr/>
        </p:nvSpPr>
        <p:spPr>
          <a:xfrm>
            <a:off x="4878350" y="2945950"/>
            <a:ext cx="3672900" cy="13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Наблюдается стабильно высокий рост производительности, что подтверждает эффективность внедрения цифровых технологий на всех стадиях производства.
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75" y="1913267"/>
            <a:ext cx="4843800" cy="2258066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356600" y="360000"/>
            <a:ext cx="8426700" cy="88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 материалов по способам обработки
</a:t>
            </a:r>
            <a:endParaRPr lang="en-US" sz="3000" dirty="0"/>
          </a:p>
        </p:txBody>
      </p:sp>
      <p:sp>
        <p:nvSpPr>
          <p:cNvPr id="6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  <p:sp>
        <p:nvSpPr>
          <p:cNvPr id="7" name="Text 2"/>
          <p:cNvSpPr txBox="1"/>
          <p:nvPr/>
        </p:nvSpPr>
        <p:spPr>
          <a:xfrm>
            <a:off x="5356100" y="1310700"/>
            <a:ext cx="3430800" cy="1092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демонстрирует соответствие групп материалов различным способам обработки с учетом особенностей и ограничений.
</a:t>
            </a:r>
            <a:endParaRPr lang="en-US" sz="1400" dirty="0"/>
          </a:p>
        </p:txBody>
      </p:sp>
      <p:sp>
        <p:nvSpPr>
          <p:cNvPr id="8" name="Text 3"/>
          <p:cNvSpPr txBox="1"/>
          <p:nvPr/>
        </p:nvSpPr>
        <p:spPr>
          <a:xfrm>
            <a:off x="5356100" y="2571750"/>
            <a:ext cx="3430800" cy="109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технологии сильно зависит от физических свойств материалов и технологических требований, что определяет эффективность обработки.
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5356100" y="4225200"/>
            <a:ext cx="3430800" cy="558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Справочник материаловеда, 2023
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  <p:sp>
        <p:nvSpPr>
          <p:cNvPr id="8" name="Text 1"/>
          <p:cNvSpPr txBox="1"/>
          <p:nvPr/>
        </p:nvSpPr>
        <p:spPr>
          <a:xfrm>
            <a:off x="356600" y="360000"/>
            <a:ext cx="8426700" cy="88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Тенденции развития технологий обработки в 21 веке
</a:t>
            </a:r>
            <a:endParaRPr lang="en-US" sz="3000" dirty="0"/>
          </a:p>
        </p:txBody>
      </p:sp>
      <p:sp>
        <p:nvSpPr>
          <p:cNvPr id="9" name="Text 2"/>
          <p:cNvSpPr txBox="1"/>
          <p:nvPr/>
        </p:nvSpPr>
        <p:spPr>
          <a:xfrm>
            <a:off x="467275" y="3627738"/>
            <a:ext cx="1936800" cy="116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Активное внедрение автоматизации и ЧПУ станков способствовало повышению точности и производительности.
</a:t>
            </a:r>
            <a:endParaRPr lang="en-US" sz="1000" dirty="0"/>
          </a:p>
        </p:txBody>
      </p:sp>
      <p:sp>
        <p:nvSpPr>
          <p:cNvPr id="10" name="Text 3"/>
          <p:cNvSpPr txBox="1"/>
          <p:nvPr/>
        </p:nvSpPr>
        <p:spPr>
          <a:xfrm>
            <a:off x="467275" y="3114749"/>
            <a:ext cx="1936800" cy="44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2000-е годы
</a:t>
            </a:r>
            <a:endParaRPr lang="en-US" sz="1100" dirty="0"/>
          </a:p>
        </p:txBody>
      </p:sp>
      <p:sp>
        <p:nvSpPr>
          <p:cNvPr id="11" name="Text 4"/>
          <p:cNvSpPr txBox="1"/>
          <p:nvPr/>
        </p:nvSpPr>
        <p:spPr>
          <a:xfrm>
            <a:off x="2564938" y="3301937"/>
            <a:ext cx="1936800" cy="116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применения искусственного интеллекта и цифровых двойников для оптимизации процессов и контроля качества.
</a:t>
            </a:r>
            <a:endParaRPr lang="en-US" sz="1000" dirty="0"/>
          </a:p>
        </p:txBody>
      </p:sp>
      <p:sp>
        <p:nvSpPr>
          <p:cNvPr id="12" name="Text 5"/>
          <p:cNvSpPr txBox="1"/>
          <p:nvPr/>
        </p:nvSpPr>
        <p:spPr>
          <a:xfrm>
            <a:off x="2564938" y="2788949"/>
            <a:ext cx="1936800" cy="44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2010-е годы
</a:t>
            </a:r>
            <a:endParaRPr lang="en-US" sz="1100" dirty="0"/>
          </a:p>
        </p:txBody>
      </p:sp>
      <p:sp>
        <p:nvSpPr>
          <p:cNvPr id="13" name="Text 6"/>
          <p:cNvSpPr txBox="1"/>
          <p:nvPr/>
        </p:nvSpPr>
        <p:spPr>
          <a:xfrm>
            <a:off x="4769775" y="2954063"/>
            <a:ext cx="1936800" cy="116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 на экологичных технологиях и использовании новых материалов с улучшенными свойствами.
</a:t>
            </a:r>
            <a:endParaRPr lang="en-US" sz="1000" dirty="0"/>
          </a:p>
        </p:txBody>
      </p:sp>
      <p:sp>
        <p:nvSpPr>
          <p:cNvPr id="14" name="Text 7"/>
          <p:cNvSpPr txBox="1"/>
          <p:nvPr/>
        </p:nvSpPr>
        <p:spPr>
          <a:xfrm>
            <a:off x="4769775" y="2441074"/>
            <a:ext cx="1936800" cy="44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2020-е годы
</a:t>
            </a:r>
            <a:endParaRPr lang="en-US" sz="1100" dirty="0"/>
          </a:p>
        </p:txBody>
      </p:sp>
      <p:sp>
        <p:nvSpPr>
          <p:cNvPr id="15" name="Text 8"/>
          <p:cNvSpPr txBox="1"/>
          <p:nvPr/>
        </p:nvSpPr>
        <p:spPr>
          <a:xfrm>
            <a:off x="6922725" y="2613088"/>
            <a:ext cx="1936800" cy="116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Ожидается интеграция адаптивных систем управления и расширение сверхточных методов обработки с применением нанотехнологий.
</a:t>
            </a:r>
            <a:endParaRPr lang="en-US" sz="1000" dirty="0"/>
          </a:p>
        </p:txBody>
      </p:sp>
      <p:sp>
        <p:nvSpPr>
          <p:cNvPr id="16" name="Text 9"/>
          <p:cNvSpPr txBox="1"/>
          <p:nvPr/>
        </p:nvSpPr>
        <p:spPr>
          <a:xfrm>
            <a:off x="6922725" y="2100099"/>
            <a:ext cx="1936800" cy="44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и далее
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436" y="1638775"/>
            <a:ext cx="2719028" cy="31449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363400" y="360000"/>
            <a:ext cx="6293100" cy="108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 физико-химических свойств материалов на выбор способа обработки
</a:t>
            </a:r>
            <a:endParaRPr lang="en-US" sz="3000" dirty="0"/>
          </a:p>
        </p:txBody>
      </p:sp>
      <p:sp>
        <p:nvSpPr>
          <p:cNvPr id="7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  <p:sp>
        <p:nvSpPr>
          <p:cNvPr id="8" name="Text 2"/>
          <p:cNvSpPr txBox="1"/>
          <p:nvPr/>
        </p:nvSpPr>
        <p:spPr>
          <a:xfrm>
            <a:off x="3477350" y="3830087"/>
            <a:ext cx="4562700" cy="81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Показатели теплопроводности и химической стойкости влияют на методы термической и химической обработки, обеспечивая долговечность изделий и устойчивость к внешним воздействиям.
</a:t>
            </a:r>
            <a:endParaRPr lang="en-US" sz="1200" dirty="0"/>
          </a:p>
        </p:txBody>
      </p:sp>
      <p:sp>
        <p:nvSpPr>
          <p:cNvPr id="9" name="Text 3"/>
          <p:cNvSpPr txBox="1"/>
          <p:nvPr/>
        </p:nvSpPr>
        <p:spPr>
          <a:xfrm>
            <a:off x="3477350" y="3404463"/>
            <a:ext cx="4562700" cy="35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Химические и тепловые характеристики
</a:t>
            </a:r>
            <a:endParaRPr lang="en-US" sz="1400" dirty="0"/>
          </a:p>
        </p:txBody>
      </p:sp>
      <p:sp>
        <p:nvSpPr>
          <p:cNvPr id="10" name="Text 4"/>
          <p:cNvSpPr txBox="1"/>
          <p:nvPr/>
        </p:nvSpPr>
        <p:spPr>
          <a:xfrm>
            <a:off x="3477350" y="2188039"/>
            <a:ext cx="4562700" cy="81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Твердость и пластичность материалов определяют выбор режущих инструментов и режима обработки для предотвращения деформаций и повышения качества поверхности.
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3477350" y="1762414"/>
            <a:ext cx="4562700" cy="35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Механические свойства и их значение
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75" y="1310707"/>
            <a:ext cx="4130100" cy="346318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356600" y="360000"/>
            <a:ext cx="8426700" cy="88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применяемых технологий обработки по видам материалов
</a:t>
            </a:r>
            <a:endParaRPr lang="en-US" sz="3000" dirty="0"/>
          </a:p>
        </p:txBody>
      </p:sp>
      <p:sp>
        <p:nvSpPr>
          <p:cNvPr id="8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100" dirty="0"/>
          </a:p>
        </p:txBody>
      </p:sp>
      <p:sp>
        <p:nvSpPr>
          <p:cNvPr id="9" name="Text 2"/>
          <p:cNvSpPr txBox="1"/>
          <p:nvPr/>
        </p:nvSpPr>
        <p:spPr>
          <a:xfrm>
            <a:off x="4642400" y="4481675"/>
            <a:ext cx="4144800" cy="301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Материаловедческий анализ, 2023
</a:t>
            </a:r>
            <a:endParaRPr lang="en-US" sz="1200" dirty="0"/>
          </a:p>
        </p:txBody>
      </p:sp>
      <p:sp>
        <p:nvSpPr>
          <p:cNvPr id="10" name="Text 3"/>
          <p:cNvSpPr txBox="1"/>
          <p:nvPr/>
        </p:nvSpPr>
        <p:spPr>
          <a:xfrm>
            <a:off x="4878350" y="1564825"/>
            <a:ext cx="3672900" cy="13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Металлы преимущественно обрабатываются механическими методами, тогда как полимеры и керамика требуют специализированных подходов.
</a:t>
            </a:r>
            <a:endParaRPr lang="en-US" sz="1400" dirty="0"/>
          </a:p>
        </p:txBody>
      </p:sp>
      <p:sp>
        <p:nvSpPr>
          <p:cNvPr id="11" name="Text 4"/>
          <p:cNvSpPr txBox="1"/>
          <p:nvPr/>
        </p:nvSpPr>
        <p:spPr>
          <a:xfrm>
            <a:off x="4878350" y="2945950"/>
            <a:ext cx="3672900" cy="13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обработки материалов отражает отраслевые требования и физические свойства, влияющие на выбор технологии.
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356600" y="360000"/>
            <a:ext cx="8426700" cy="88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и стандартизация в технологиях обработки материалов
</a:t>
            </a:r>
            <a:endParaRPr lang="en-US" sz="3000" dirty="0"/>
          </a:p>
        </p:txBody>
      </p:sp>
      <p:sp>
        <p:nvSpPr>
          <p:cNvPr id="9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100" dirty="0"/>
          </a:p>
        </p:txBody>
      </p:sp>
      <p:sp>
        <p:nvSpPr>
          <p:cNvPr id="10" name="Text 2"/>
          <p:cNvSpPr txBox="1"/>
          <p:nvPr/>
        </p:nvSpPr>
        <p:spPr>
          <a:xfrm>
            <a:off x="655350" y="1825125"/>
            <a:ext cx="2126700" cy="254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Нормативы охраны труда обеспечивают защиту работников от вредных факторов и несчастных случаев на производстве.
</a:t>
            </a:r>
            <a:endParaRPr lang="en-US" sz="1400" dirty="0"/>
          </a:p>
        </p:txBody>
      </p:sp>
      <p:sp>
        <p:nvSpPr>
          <p:cNvPr id="11" name="Text 3"/>
          <p:cNvSpPr txBox="1"/>
          <p:nvPr/>
        </p:nvSpPr>
        <p:spPr>
          <a:xfrm>
            <a:off x="3510200" y="1825125"/>
            <a:ext cx="2126700" cy="254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Стандарты ISO и ГОСТ регулируют качество продукции и процессы обработки, гарантируя стабильность и обмен опытом на международном уровне.
</a:t>
            </a:r>
            <a:endParaRPr lang="en-US" sz="1400" dirty="0"/>
          </a:p>
        </p:txBody>
      </p:sp>
      <p:sp>
        <p:nvSpPr>
          <p:cNvPr id="12" name="Text 4"/>
          <p:cNvSpPr txBox="1"/>
          <p:nvPr/>
        </p:nvSpPr>
        <p:spPr>
          <a:xfrm>
            <a:off x="6365050" y="1825125"/>
            <a:ext cx="2126700" cy="254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Требования к технологическим процессам включают контроль параметров, поддержание безопасности оборудования и соблюдение экологических норм.
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75" y="2383401"/>
            <a:ext cx="4843800" cy="131779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356600" y="360000"/>
            <a:ext cx="8426700" cy="88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экономической эффективности технологий
</a:t>
            </a:r>
            <a:endParaRPr lang="en-US" sz="3000" dirty="0"/>
          </a:p>
        </p:txBody>
      </p:sp>
      <p:sp>
        <p:nvSpPr>
          <p:cNvPr id="8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100" dirty="0"/>
          </a:p>
        </p:txBody>
      </p:sp>
      <p:sp>
        <p:nvSpPr>
          <p:cNvPr id="9" name="Text 2"/>
          <p:cNvSpPr txBox="1"/>
          <p:nvPr/>
        </p:nvSpPr>
        <p:spPr>
          <a:xfrm>
            <a:off x="356600" y="4423500"/>
            <a:ext cx="34308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Отчет экономистов отрасли, 2024
</a:t>
            </a:r>
            <a:endParaRPr lang="en-US" sz="1400" dirty="0"/>
          </a:p>
        </p:txBody>
      </p:sp>
      <p:sp>
        <p:nvSpPr>
          <p:cNvPr id="10" name="Text 3"/>
          <p:cNvSpPr txBox="1"/>
          <p:nvPr/>
        </p:nvSpPr>
        <p:spPr>
          <a:xfrm>
            <a:off x="655350" y="1595275"/>
            <a:ext cx="2884200" cy="109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затрат основных способов обработки с точки зрения оборудования, расходов энергии и трудозатрат для разных объемов производства.
</a:t>
            </a:r>
            <a:endParaRPr lang="en-US" sz="1400" dirty="0"/>
          </a:p>
        </p:txBody>
      </p:sp>
      <p:sp>
        <p:nvSpPr>
          <p:cNvPr id="11" name="Text 4"/>
          <p:cNvSpPr txBox="1"/>
          <p:nvPr/>
        </p:nvSpPr>
        <p:spPr>
          <a:xfrm>
            <a:off x="655350" y="3164625"/>
            <a:ext cx="2884200" cy="109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Рациональный выбор метода зависит от объема производства и приоритетов по расходам и эффективности.
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356600" y="360000"/>
            <a:ext cx="8426700" cy="88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Вызовы и перспективы совершенствования технологий обработки материалов
</a:t>
            </a:r>
            <a:endParaRPr lang="en-US" sz="3000" dirty="0"/>
          </a:p>
        </p:txBody>
      </p:sp>
      <p:sp>
        <p:nvSpPr>
          <p:cNvPr id="9" name="Text 1"/>
          <p:cNvSpPr txBox="1"/>
          <p:nvPr/>
        </p:nvSpPr>
        <p:spPr>
          <a:xfrm>
            <a:off x="8784000" y="4773807"/>
            <a:ext cx="228900" cy="2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100" dirty="0"/>
          </a:p>
        </p:txBody>
      </p:sp>
      <p:sp>
        <p:nvSpPr>
          <p:cNvPr id="10" name="Text 2"/>
          <p:cNvSpPr txBox="1"/>
          <p:nvPr/>
        </p:nvSpPr>
        <p:spPr>
          <a:xfrm>
            <a:off x="360250" y="2426025"/>
            <a:ext cx="2003400" cy="23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Высокая энергоемкость современных технологий требует разработки более экономичных и экологичных решений для снижения издержек.
</a:t>
            </a:r>
            <a:endParaRPr lang="en-US" sz="1400" dirty="0"/>
          </a:p>
        </p:txBody>
      </p:sp>
      <p:sp>
        <p:nvSpPr>
          <p:cNvPr id="11" name="Text 3"/>
          <p:cNvSpPr txBox="1"/>
          <p:nvPr/>
        </p:nvSpPr>
        <p:spPr>
          <a:xfrm>
            <a:off x="2501300" y="2426025"/>
            <a:ext cx="2003400" cy="23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Сложности в автоматизации процессов обусловлены необходимостью интеграции адаптивных систем с учетом разнообразия материалов и изделий.
</a:t>
            </a:r>
            <a:endParaRPr lang="en-US" sz="1400" dirty="0"/>
          </a:p>
        </p:txBody>
      </p:sp>
      <p:sp>
        <p:nvSpPr>
          <p:cNvPr id="12" name="Text 4"/>
          <p:cNvSpPr txBox="1"/>
          <p:nvPr/>
        </p:nvSpPr>
        <p:spPr>
          <a:xfrm>
            <a:off x="4642350" y="2426025"/>
            <a:ext cx="2003400" cy="23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Экологические ограничения стимулируют переход к безотходным методам и использованию перерабатываемых материалов в технологических процессах.
</a:t>
            </a:r>
            <a:endParaRPr lang="en-US" sz="1400" dirty="0"/>
          </a:p>
        </p:txBody>
      </p:sp>
      <p:sp>
        <p:nvSpPr>
          <p:cNvPr id="13" name="Text 5"/>
          <p:cNvSpPr txBox="1"/>
          <p:nvPr/>
        </p:nvSpPr>
        <p:spPr>
          <a:xfrm>
            <a:off x="6783400" y="2426025"/>
            <a:ext cx="2003400" cy="23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Перспективы связаны с применением нанотехнологий и умных материалов, которые обеспечивают устойчивость и самовосстановление изделий.
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60000" y="1397200"/>
            <a:ext cx="5572200" cy="1785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Заключение: интеграция знаний и инноваций для устойчивого развития
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360000" y="3500750"/>
            <a:ext cx="5572200" cy="128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Систематизация методов обработки и внедрение инновационных цифровых технологий критично важны для повышения качества и устойчивости производства в современных условиях.
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2025-11-21T12:56:32Z</dcterms:created>
  <dcterms:modified xsi:type="dcterms:W3CDTF">2025-11-21T12:56:32Z</dcterms:modified>
</cp:coreProperties>
</file>