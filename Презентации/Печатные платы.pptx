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02" r:id="rId1"/>
  </p:sldMasterIdLst>
  <p:notesMasterIdLst>
    <p:notesMasterId r:id="rId34"/>
  </p:notesMasterIdLst>
  <p:sldIdLst>
    <p:sldId id="256" r:id="rId2"/>
    <p:sldId id="272" r:id="rId3"/>
    <p:sldId id="273" r:id="rId4"/>
    <p:sldId id="274" r:id="rId5"/>
    <p:sldId id="276" r:id="rId6"/>
    <p:sldId id="275" r:id="rId7"/>
    <p:sldId id="277" r:id="rId8"/>
    <p:sldId id="284" r:id="rId9"/>
    <p:sldId id="279" r:id="rId10"/>
    <p:sldId id="280" r:id="rId11"/>
    <p:sldId id="281" r:id="rId12"/>
    <p:sldId id="282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89" r:id="rId27"/>
    <p:sldId id="285" r:id="rId28"/>
    <p:sldId id="288" r:id="rId29"/>
    <p:sldId id="287" r:id="rId30"/>
    <p:sldId id="286" r:id="rId31"/>
    <p:sldId id="283" r:id="rId32"/>
    <p:sldId id="271" r:id="rId33"/>
  </p:sldIdLst>
  <p:sldSz cx="14630400" cy="8229600"/>
  <p:notesSz cx="8229600" cy="14630400"/>
  <p:embeddedFontLst>
    <p:embeddedFont>
      <p:font typeface="Alice" pitchFamily="2" charset="0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libri Light" panose="020F0302020204030204" pitchFamily="34" charset="0"/>
      <p:regular r:id="rId40"/>
      <p:italic r:id="rId41"/>
    </p:embeddedFont>
    <p:embeddedFont>
      <p:font typeface="Instrument Sans Medium" panose="020F0502020204030204" pitchFamily="34" charset="0"/>
      <p:regular r:id="rId42"/>
      <p:bold r:id="rId43"/>
      <p:italic r:id="rId44"/>
      <p:boldItalic r:id="rId45"/>
    </p:embeddedFont>
    <p:embeddedFont>
      <p:font typeface="Instrument Sans Semi Bold" panose="020F0502020204030204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8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16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7660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1347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9560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719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063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0646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772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317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4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341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43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1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989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078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90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906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2629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1597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88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523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509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7211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763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7020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4920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3544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595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  <p:sldLayoutId id="2147483926" r:id="rId24"/>
    <p:sldLayoutId id="2147483927" r:id="rId25"/>
    <p:sldLayoutId id="2147483928" r:id="rId26"/>
    <p:sldLayoutId id="2147483930" r:id="rId2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5604" y="3796370"/>
            <a:ext cx="6493267" cy="63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ru-RU" sz="6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</a:t>
            </a:r>
            <a:r>
              <a:rPr lang="en-US" sz="60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ечатны</a:t>
            </a:r>
            <a:r>
              <a:rPr lang="ru-RU" sz="6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</a:t>
            </a:r>
            <a:r>
              <a:rPr lang="en-US" sz="6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60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</a:t>
            </a:r>
            <a:r>
              <a:rPr lang="ru-RU" sz="6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ы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13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6021"/>
            <a:ext cx="57026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ru-RU" sz="48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Зачем мне это надо?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12456"/>
            <a:ext cx="57276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ru-RU" sz="28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Ведь есть же </a:t>
            </a:r>
            <a:r>
              <a:rPr lang="en-US" sz="28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Arduino UNO! 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594003"/>
            <a:ext cx="5400556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ru-RU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Конечно есть…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24" y="1836063"/>
            <a:ext cx="5136594" cy="43336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047" y="6412706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6047" y="6966228"/>
            <a:ext cx="629566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5995" y="1836063"/>
            <a:ext cx="5316402" cy="5316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6305" y="6575941"/>
            <a:ext cx="270021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586305" y="7129463"/>
            <a:ext cx="629566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1968"/>
            <a:ext cx="66073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ru-RU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</a:t>
            </a: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ru-RU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есть и альтернативы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95" y="2766060"/>
            <a:ext cx="3364587" cy="2598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19512"/>
            <a:ext cx="30289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Arduino Nano/Micro 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20065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34627">
            <a:off x="5589270" y="2766060"/>
            <a:ext cx="3465314" cy="2597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2928" y="5618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ESP32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32928" y="619946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067" y="2766060"/>
            <a:ext cx="3868579" cy="2579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2067" y="5600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STM32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872067" y="618136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Однако</a:t>
            </a:r>
            <a:endParaRPr lang="en-US" sz="4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11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3430429"/>
            <a:ext cx="12586573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Преимущества использования печатных плат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7241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933" y="4825543"/>
            <a:ext cx="130612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18285" y="472368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Упрощение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сборки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18285" y="5210056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облегчают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процесс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сборки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,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сводя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минимуму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ошибки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750" dirty="0"/>
          </a:p>
          <a:p>
            <a:pPr marL="0" indent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7714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1981" y="4825543"/>
            <a:ext cx="187881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58758" y="4723686"/>
            <a:ext cx="3520797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Повышенная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надежность</a:t>
            </a:r>
            <a:endParaRPr lang="en-US" sz="2200" dirty="0"/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58758" y="5210056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Прочные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соединения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обеспечивают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стабильную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работу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электронных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устройств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7241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7548" y="6515022"/>
            <a:ext cx="195382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18285" y="640758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Компактность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18285" y="6893957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позволяют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создавать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компактные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портативные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устройства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27714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2158" y="6515022"/>
            <a:ext cx="207526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58758" y="6407587"/>
            <a:ext cx="299894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Удобство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обновления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58758" y="6893957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Модульные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конструкции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облегчают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замену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7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компонентов</a:t>
            </a: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0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Например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140767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Размеры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: 40×25мм.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735223"/>
            <a:ext cx="6244709" cy="31503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99521" y="6140768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Размеры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2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: 102×54мм.</a:t>
            </a:r>
            <a:endParaRPr lang="en-US" sz="2200" dirty="0"/>
          </a:p>
        </p:txBody>
      </p:sp>
      <p:pic>
        <p:nvPicPr>
          <p:cNvPr id="8" name="Picture 7" descr="A black circuit board with white text&#10;&#10;Description automatically generated">
            <a:extLst>
              <a:ext uri="{FF2B5EF4-FFF2-40B4-BE49-F238E27FC236}">
                <a16:creationId xmlns:a16="http://schemas.microsoft.com/office/drawing/2014/main" id="{A02BE0E7-5EB5-629D-192F-9CBED8C3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400" y="2047788"/>
            <a:ext cx="4117487" cy="4134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1952"/>
            <a:ext cx="88900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ещё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пример</a:t>
            </a:r>
            <a:r>
              <a:rPr lang="ru-RU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, но тут уже форма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11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636044"/>
            <a:ext cx="6244709" cy="3439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9521" y="63305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Picture 7" descr="A close-up of a computer chip&#10;&#10;Description automatically generated">
            <a:extLst>
              <a:ext uri="{FF2B5EF4-FFF2-40B4-BE49-F238E27FC236}">
                <a16:creationId xmlns:a16="http://schemas.microsoft.com/office/drawing/2014/main" id="{CD2CB065-35EA-91BC-8BE5-05B498E92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90241" y="1583655"/>
            <a:ext cx="5537143" cy="5544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117" y="613039"/>
            <a:ext cx="13052584" cy="652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Этапы</a:t>
            </a: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проектирования</a:t>
            </a: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создания</a:t>
            </a: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печатной</a:t>
            </a: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03770" y="1884283"/>
            <a:ext cx="22860" cy="5530453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4" name="Shape 2"/>
          <p:cNvSpPr/>
          <p:nvPr/>
        </p:nvSpPr>
        <p:spPr>
          <a:xfrm>
            <a:off x="6372820" y="2342436"/>
            <a:ext cx="730448" cy="22860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5" name="Shape 3"/>
          <p:cNvSpPr/>
          <p:nvPr/>
        </p:nvSpPr>
        <p:spPr>
          <a:xfrm>
            <a:off x="7080409" y="2119074"/>
            <a:ext cx="469583" cy="469582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54537" y="2208788"/>
            <a:ext cx="121206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558540" y="2092881"/>
            <a:ext cx="2608778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Разработка</a:t>
            </a:r>
            <a:r>
              <a:rPr lang="en-US" sz="24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схемы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0448" y="2544008"/>
            <a:ext cx="5436870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Определение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функциональности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устройства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выбор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компонентов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7131" y="3385780"/>
            <a:ext cx="730448" cy="22860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10" name="Shape 8"/>
          <p:cNvSpPr/>
          <p:nvPr/>
        </p:nvSpPr>
        <p:spPr>
          <a:xfrm>
            <a:off x="7080409" y="3162419"/>
            <a:ext cx="469583" cy="469582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7926" y="3264627"/>
            <a:ext cx="174427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463082" y="3136225"/>
            <a:ext cx="2993231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Проектирование</a:t>
            </a:r>
            <a:r>
              <a:rPr lang="en-US" sz="24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63082" y="3587353"/>
            <a:ext cx="5436870" cy="667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Создание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макета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CAD-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системе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,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размещение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компонентов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дорожек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72820" y="4324826"/>
            <a:ext cx="730448" cy="22860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0409" y="4101465"/>
            <a:ext cx="469583" cy="469582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4473" y="4205208"/>
            <a:ext cx="181332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3558540" y="4075271"/>
            <a:ext cx="2608778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Изготовление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0448" y="4526399"/>
            <a:ext cx="5436870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Производство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платы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7131" y="5263991"/>
            <a:ext cx="730448" cy="22860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0409" y="5040630"/>
            <a:ext cx="469583" cy="469582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8877" y="5137362"/>
            <a:ext cx="192524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8463082" y="5014436"/>
            <a:ext cx="2608778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Монтаж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63082" y="5465564"/>
            <a:ext cx="5436870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Установка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пайка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компонентов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плату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2820" y="6203156"/>
            <a:ext cx="730448" cy="22860"/>
          </a:xfrm>
          <a:prstGeom prst="roundRect">
            <a:avLst>
              <a:gd name="adj" fmla="val 383459"/>
            </a:avLst>
          </a:prstGeom>
          <a:solidFill>
            <a:srgbClr val="56565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0409" y="5979795"/>
            <a:ext cx="469583" cy="469582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4175" y="6082268"/>
            <a:ext cx="18192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3558540" y="5953601"/>
            <a:ext cx="2608778" cy="32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Тестирование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0448" y="6404729"/>
            <a:ext cx="5436870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Проверка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работы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6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устройства</a:t>
            </a: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713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545" y="3009959"/>
            <a:ext cx="12715665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Программное</a:t>
            </a:r>
            <a:r>
              <a:rPr lang="en-US" sz="3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обеспечение</a:t>
            </a:r>
            <a:r>
              <a:rPr lang="en-US" sz="3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для</a:t>
            </a:r>
            <a:r>
              <a:rPr lang="en-US" sz="3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разработки</a:t>
            </a:r>
            <a:r>
              <a:rPr lang="en-US" sz="3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печатных</a:t>
            </a:r>
            <a:r>
              <a:rPr lang="en-US" sz="3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36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91991" y="4547354"/>
            <a:ext cx="6524387" cy="1470779"/>
          </a:xfrm>
          <a:prstGeom prst="roundRect">
            <a:avLst>
              <a:gd name="adj" fmla="val 564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7255" y="4752618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KiCad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7255" y="5180171"/>
            <a:ext cx="6113859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Бесплатная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открытая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программа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для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разработки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моделирования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печатных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4022" y="4547354"/>
            <a:ext cx="6524387" cy="1470779"/>
          </a:xfrm>
          <a:prstGeom prst="roundRect">
            <a:avLst>
              <a:gd name="adj" fmla="val 564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9286" y="4752618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Altium Designer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19285" y="5080837"/>
            <a:ext cx="6113859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Профессиональное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программное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обеспечение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широким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набором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функций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1991" y="6215777"/>
            <a:ext cx="6524387" cy="1470779"/>
          </a:xfrm>
          <a:prstGeom prst="roundRect">
            <a:avLst>
              <a:gd name="adj" fmla="val 564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255" y="6421041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EasyEDA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7255" y="6848594"/>
            <a:ext cx="6113859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Простая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использовании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программа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для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создания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печатных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плат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414022" y="6215777"/>
            <a:ext cx="6524387" cy="1470779"/>
          </a:xfrm>
          <a:prstGeom prst="roundRect">
            <a:avLst>
              <a:gd name="adj" fmla="val 564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9286" y="6421041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OrCAD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19286" y="6730008"/>
            <a:ext cx="6113859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Мощная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программа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для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разработки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сложных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электронных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1550" dirty="0" err="1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устройств</a:t>
            </a:r>
            <a:r>
              <a:rPr lang="en-US" sz="15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9287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как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же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TINKERCAD?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169200"/>
            <a:ext cx="6244709" cy="38910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6021"/>
            <a:ext cx="2566098" cy="76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Удобно</a:t>
            </a: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!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693" y="2321960"/>
            <a:ext cx="7855707" cy="3735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138C0B-5D6D-005D-9508-8FAC3F81905A}"/>
              </a:ext>
            </a:extLst>
          </p:cNvPr>
          <p:cNvSpPr txBox="1"/>
          <p:nvPr/>
        </p:nvSpPr>
        <p:spPr>
          <a:xfrm>
            <a:off x="793790" y="4189619"/>
            <a:ext cx="5099976" cy="77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</a:t>
            </a:r>
            <a:r>
              <a:rPr lang="en-US" sz="4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000" dirty="0" err="1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поверхностно</a:t>
            </a:r>
            <a:r>
              <a:rPr lang="en-US" sz="40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(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2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Виды печатных плат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16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565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Однослойные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208621"/>
            <a:ext cx="3978116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Самый простой тип печатной платы, где все компоненты размещаются на одной стороне.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5565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Двухслойные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332928" y="4208621"/>
            <a:ext cx="3978116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Имеют две стороны с дорожками, соединенные через отверстия.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5565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Многослойные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9872067" y="4208621"/>
            <a:ext cx="3978116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Сложные конструкции с несколькими слоями, позволяющие размещать большое количество компонентов и соединений.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8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Виды печатных плат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81683" y="26975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Однослойные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78041"/>
            <a:ext cx="3978116" cy="31744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0822" y="26975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Двухслойные</a:t>
            </a:r>
            <a:endParaRPr lang="en-US" sz="2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928" y="3378041"/>
            <a:ext cx="3978116" cy="31744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59960" y="26975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Многослойные</a:t>
            </a:r>
            <a:endParaRPr lang="en-US" sz="2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067" y="3378041"/>
            <a:ext cx="3978116" cy="31738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0485"/>
            <a:ext cx="7884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Однослойная печатная плата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14920" y="22962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 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76682"/>
            <a:ext cx="6244709" cy="3977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0651" y="22962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3d визуализация</a:t>
            </a:r>
            <a:endParaRPr lang="en-US" sz="26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65377" y="2970713"/>
            <a:ext cx="6299773" cy="39181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3935"/>
            <a:ext cx="7806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Двухслойная печатная плата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14920" y="227969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 </a:t>
            </a:r>
            <a:endParaRPr lang="en-US" sz="26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3790" y="3071473"/>
            <a:ext cx="6244709" cy="3745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0651" y="227969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3d визуализация</a:t>
            </a:r>
            <a:endParaRPr lang="en-US" sz="26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 rotWithShape="1">
          <a:blip r:embed="rId4"/>
          <a:srcRect t="1513" b="1923"/>
          <a:stretch/>
        </p:blipFill>
        <p:spPr>
          <a:xfrm>
            <a:off x="7591903" y="3030507"/>
            <a:ext cx="6473514" cy="38277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3935"/>
            <a:ext cx="82172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Многослойная печатная плата</a:t>
            </a:r>
            <a:endParaRPr lang="en-US" sz="44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>
            <a:off x="1975101" y="1765387"/>
            <a:ext cx="3881968" cy="6028980"/>
          </a:xfrm>
          <a:prstGeom prst="rect">
            <a:avLst/>
          </a:prstGeom>
        </p:spPr>
      </p:pic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16200000">
            <a:off x="8780831" y="1785529"/>
            <a:ext cx="3881969" cy="598869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1EE492A9-A7B3-4517-EB50-C2A2D2C3C3EC}"/>
              </a:ext>
            </a:extLst>
          </p:cNvPr>
          <p:cNvSpPr/>
          <p:nvPr/>
        </p:nvSpPr>
        <p:spPr>
          <a:xfrm>
            <a:off x="793790" y="1003935"/>
            <a:ext cx="78062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C0C5F83-1B32-F04A-84F2-773FE372DBD0}"/>
              </a:ext>
            </a:extLst>
          </p:cNvPr>
          <p:cNvSpPr/>
          <p:nvPr/>
        </p:nvSpPr>
        <p:spPr>
          <a:xfrm>
            <a:off x="2214920" y="227969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 </a:t>
            </a:r>
            <a:endParaRPr lang="en-US" sz="26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93AAD3F-3377-66BE-212A-84D95BADA16D}"/>
              </a:ext>
            </a:extLst>
          </p:cNvPr>
          <p:cNvSpPr/>
          <p:nvPr/>
        </p:nvSpPr>
        <p:spPr>
          <a:xfrm>
            <a:off x="9020651" y="227969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3d визуализация</a:t>
            </a:r>
            <a:endParaRPr lang="en-US" sz="2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1021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Металлизация отверстий и нанесение покрытий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67933"/>
            <a:ext cx="6521410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650200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Процесс нанесения металлического покрытия на стенки отверстий для соединения слоев.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367933"/>
            <a:ext cx="6521410" cy="9072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42014" y="650200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Нанесение защитных покрытий, таких как паяльная маска или конформные покрытия.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162" y="669250"/>
            <a:ext cx="7420094" cy="643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Материалы для изготовления 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1162" y="1622108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90650" y="1692831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Стеклотекстолит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90650" y="213824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Стандартный материал, сочетающий прочность и диэлектрические свойства.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1162" y="3209687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90650" y="3280410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Керамика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90650" y="3725823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Используется для высокочастотных устройств и приложений, требующих высокой устойчивости к температуре.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1162" y="4797266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0650" y="4867989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Фторопласт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90650" y="531340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Обладает высокой химической стойкостью и устойчивостью к высоким температурам.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1162" y="6384846"/>
            <a:ext cx="463510" cy="463510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90650" y="6455569"/>
            <a:ext cx="2575560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Алюминий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90650" y="6900982"/>
            <a:ext cx="7032188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Высокая теплопроводность и  прочность. Используется  для мощных светодиодов, транзисторов и микропроцессоров.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7933"/>
            <a:ext cx="10194369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Нестандартные материалы (поллимид)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2251472" y="1851303"/>
            <a:ext cx="3316367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2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Гибкие 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87" y="2514481"/>
            <a:ext cx="6271736" cy="5003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0181" y="1851303"/>
            <a:ext cx="3316367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r>
              <a:rPr lang="en-US" sz="26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Гибко-жёсткие</a:t>
            </a:r>
            <a:endParaRPr lang="en-US" sz="2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497" y="2514481"/>
            <a:ext cx="6271736" cy="5003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6181"/>
            <a:ext cx="6159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Гибкая печатная плата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14920" y="31019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 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82378"/>
            <a:ext cx="6244709" cy="23605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0651" y="31019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Трассировка</a:t>
            </a:r>
            <a:endParaRPr lang="en-US" sz="2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3782378"/>
            <a:ext cx="6236375" cy="23657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8053"/>
            <a:ext cx="9483328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Этапы производства печатных плат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039297" y="1769745"/>
            <a:ext cx="30480" cy="5842992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4" name="Shape 2"/>
          <p:cNvSpPr/>
          <p:nvPr/>
        </p:nvSpPr>
        <p:spPr>
          <a:xfrm>
            <a:off x="1261646" y="2007275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5" name="Shape 3"/>
          <p:cNvSpPr/>
          <p:nvPr/>
        </p:nvSpPr>
        <p:spPr>
          <a:xfrm>
            <a:off x="786467" y="1769745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704" y="1811834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163008" y="1842730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Проверка Gerber файлов. Подготовка к производству.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261646" y="2906197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9" name="Shape 7"/>
          <p:cNvSpPr/>
          <p:nvPr/>
        </p:nvSpPr>
        <p:spPr>
          <a:xfrm>
            <a:off x="786467" y="2668667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0704" y="2710755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2163008" y="2741652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Сверление сквозных отверстий на исходном материале.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261646" y="3805118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467" y="3567589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0704" y="3609677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2163008" y="3640574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Нанесение  и экспонирование фоторезиста.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261646" y="4704040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467" y="4466511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704" y="4508599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2163008" y="4539496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Проявление фоторезиста. Травление меди.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261646" y="5602962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467" y="5365432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704" y="5407521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2163008" y="5438418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Удаление фоторезиста, нанесение защитной паяльной маски. Экспонирование паяльной маски.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261646" y="6501884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467" y="6264354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0704" y="6306443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2650" dirty="0"/>
          </a:p>
        </p:txBody>
      </p:sp>
      <p:sp>
        <p:nvSpPr>
          <p:cNvPr id="27" name="Text 25"/>
          <p:cNvSpPr/>
          <p:nvPr/>
        </p:nvSpPr>
        <p:spPr>
          <a:xfrm>
            <a:off x="2163008" y="6337340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Печать маркировочной краски.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1261646" y="7400806"/>
            <a:ext cx="674132" cy="30480"/>
          </a:xfrm>
          <a:prstGeom prst="roundRect">
            <a:avLst>
              <a:gd name="adj" fmla="val 309690"/>
            </a:avLst>
          </a:prstGeom>
          <a:solidFill>
            <a:srgbClr val="56565B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467" y="7163276"/>
            <a:ext cx="505658" cy="505658"/>
          </a:xfrm>
          <a:prstGeom prst="roundRect">
            <a:avLst>
              <a:gd name="adj" fmla="val 1866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704" y="7205365"/>
            <a:ext cx="337066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</a:t>
            </a:r>
            <a:endParaRPr lang="en-US" sz="2650" dirty="0"/>
          </a:p>
        </p:txBody>
      </p:sp>
      <p:sp>
        <p:nvSpPr>
          <p:cNvPr id="31" name="Text 29"/>
          <p:cNvSpPr/>
          <p:nvPr/>
        </p:nvSpPr>
        <p:spPr>
          <a:xfrm>
            <a:off x="2163008" y="7236262"/>
            <a:ext cx="1168086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Нанесение финишного покрытия на контакты.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8107"/>
            <a:ext cx="117539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Методы изготовления плат самостоятельно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214920" y="23238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ЛУТ 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84" y="3004304"/>
            <a:ext cx="5567720" cy="39219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20651" y="232386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Фрезеровка</a:t>
            </a:r>
            <a:endParaRPr lang="en-US" sz="2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3004304"/>
            <a:ext cx="6244709" cy="39000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2210"/>
            <a:ext cx="97791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ЛУТ (Лазерно-утюжная технология)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048941" y="2654617"/>
            <a:ext cx="30480" cy="4082653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4" name="Shape 2"/>
          <p:cNvSpPr/>
          <p:nvPr/>
        </p:nvSpPr>
        <p:spPr>
          <a:xfrm>
            <a:off x="1273612" y="289452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6546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8860" y="26971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183011" y="2728317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Создание файла для печати схемы на лазерном принтере. (Зеркально!)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273612" y="380178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9" name="Shape 7"/>
          <p:cNvSpPr/>
          <p:nvPr/>
        </p:nvSpPr>
        <p:spPr>
          <a:xfrm>
            <a:off x="793790" y="35618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8860" y="360437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2183011" y="3635573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Печать схемы на термотрансферной бумаге (плёнке).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273612" y="470904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44691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8860" y="451163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2183011" y="4542830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Перенос изображения на стеклотекстолит с медным слоем при помощи утюга.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1273612" y="561629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3763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860" y="541889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2183011" y="5450086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Травление меди в хлорном железе.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273612" y="652355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8860" y="632614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2183011" y="6357342"/>
            <a:ext cx="116535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Лужение контактов.</a:t>
            </a: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828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Контроль качества и тестирование печатных плат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3349466"/>
            <a:ext cx="1614011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364128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8255" y="3576280"/>
            <a:ext cx="2672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Визуальный осмотр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18115" y="417052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56565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424" y="4214098"/>
            <a:ext cx="3228022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94892" y="441876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5895261" y="4440912"/>
            <a:ext cx="43379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Тестирование на сопротивление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725120" y="5035153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56565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5078730"/>
            <a:ext cx="484203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94892" y="52833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8"/>
          <p:cNvSpPr/>
          <p:nvPr/>
        </p:nvSpPr>
        <p:spPr>
          <a:xfrm>
            <a:off x="6702266" y="5305544"/>
            <a:ext cx="43653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Тестирование на непрерывность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532126" y="5899785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56565B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4" y="5943362"/>
            <a:ext cx="6456164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94773" y="614803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500" dirty="0"/>
          </a:p>
        </p:txBody>
      </p:sp>
      <p:sp>
        <p:nvSpPr>
          <p:cNvPr id="17" name="Text 11"/>
          <p:cNvSpPr/>
          <p:nvPr/>
        </p:nvSpPr>
        <p:spPr>
          <a:xfrm>
            <a:off x="7509272" y="6170176"/>
            <a:ext cx="42350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Функциональное тестирование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Правила и стандарты проектирования схем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260" y="2641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676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Стандарты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16718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Универсальные правила и стандарты, позволяющие любому схемотехнику понять вашу схему.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52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017306" y="44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Функциональность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017306" y="491490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Схема должна выполнять заданные функции, правильно распределяя сигналы и управляя потоком данных.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5260" y="6136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172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Оптимизация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6626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Эффективность схемы: минимизация числа элементов, сокращение соединений.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791"/>
            <a:ext cx="5598081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Пример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9" y="1903214"/>
            <a:ext cx="6258401" cy="4390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3669" y="6545580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3669" y="7119223"/>
            <a:ext cx="625840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949" y="1903214"/>
            <a:ext cx="6258401" cy="43591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95949" y="6514148"/>
            <a:ext cx="2799040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95949" y="7087791"/>
            <a:ext cx="6258401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8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6635" y="3035498"/>
            <a:ext cx="4976455" cy="62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Трассировка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6635" y="5819656"/>
            <a:ext cx="13237131" cy="22860"/>
          </a:xfrm>
          <a:prstGeom prst="roundRect">
            <a:avLst>
              <a:gd name="adj" fmla="val 365732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3932158" y="5222617"/>
            <a:ext cx="22860" cy="597098"/>
          </a:xfrm>
          <a:prstGeom prst="roundRect">
            <a:avLst>
              <a:gd name="adj" fmla="val 365732"/>
            </a:avLst>
          </a:prstGeom>
          <a:solidFill>
            <a:srgbClr val="56565B"/>
          </a:solidFill>
          <a:ln/>
        </p:spPr>
      </p:sp>
      <p:sp>
        <p:nvSpPr>
          <p:cNvPr id="6" name="Shape 3"/>
          <p:cNvSpPr/>
          <p:nvPr/>
        </p:nvSpPr>
        <p:spPr>
          <a:xfrm>
            <a:off x="3719751" y="5595759"/>
            <a:ext cx="447794" cy="44779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94343" y="5633025"/>
            <a:ext cx="29849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2173724" y="3956090"/>
            <a:ext cx="3539966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Автоматическая трассировка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95588" y="4386501"/>
            <a:ext cx="6096238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Используется для автоматического размещения и прокладки дорожек на плате.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03532" y="5819596"/>
            <a:ext cx="22860" cy="597098"/>
          </a:xfrm>
          <a:prstGeom prst="roundRect">
            <a:avLst>
              <a:gd name="adj" fmla="val 365732"/>
            </a:avLst>
          </a:prstGeom>
          <a:solidFill>
            <a:srgbClr val="56565B"/>
          </a:solidFill>
          <a:ln/>
        </p:spPr>
      </p:sp>
      <p:sp>
        <p:nvSpPr>
          <p:cNvPr id="11" name="Shape 8"/>
          <p:cNvSpPr/>
          <p:nvPr/>
        </p:nvSpPr>
        <p:spPr>
          <a:xfrm>
            <a:off x="7091124" y="5595759"/>
            <a:ext cx="447794" cy="44779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65717" y="5633025"/>
            <a:ext cx="29849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6070997" y="6615827"/>
            <a:ext cx="2488168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Ручная трассировка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266962" y="7046238"/>
            <a:ext cx="6096357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Требуется для сложных участков, где требуется точный контроль над размещением.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0675025" y="5222617"/>
            <a:ext cx="22860" cy="597098"/>
          </a:xfrm>
          <a:prstGeom prst="roundRect">
            <a:avLst>
              <a:gd name="adj" fmla="val 365732"/>
            </a:avLst>
          </a:prstGeom>
          <a:solidFill>
            <a:srgbClr val="56565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617" y="5595759"/>
            <a:ext cx="447794" cy="44779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37210" y="5633025"/>
            <a:ext cx="298490" cy="373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442490" y="3956090"/>
            <a:ext cx="2488168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Оптимизация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38455" y="4386501"/>
            <a:ext cx="6096357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Минимизация длины трасс, избегание пересечений, создание оптимальных контуров.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55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Техники оптимизации трассировки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643307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70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Ширина дорожек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36053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Подбирается в соответствии с требованиями тока и теплового режима.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539972"/>
            <a:ext cx="3292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Размещение элементов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503039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Влияет на длину трасс и общий вид печатной платы.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674042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900857"/>
            <a:ext cx="30176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Использование слоев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39127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Многослойные платы позволяют сократить количество пересечений и улучшить характеристики.</a:t>
            </a:r>
            <a:endParaRPr lang="en-US" sz="1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18053"/>
            <a:ext cx="561855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Пример</a:t>
            </a:r>
            <a:endParaRPr lang="en-US" sz="44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527" y="1968867"/>
            <a:ext cx="6254591" cy="4239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527" y="6520339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6527" y="7096244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96902" y="1959148"/>
            <a:ext cx="6254591" cy="42358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96902" y="6496764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96902" y="7072670"/>
            <a:ext cx="625459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572333"/>
            <a:ext cx="5203269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 в результате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24" y="1768912"/>
            <a:ext cx="5810964" cy="436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4015" y="6365677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28424" y="6898958"/>
            <a:ext cx="6332934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442252" y="6667381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576661" y="7200662"/>
            <a:ext cx="6332934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2EF2E8-C9AA-887D-311D-E9B567EEC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3" r="13879" b="19975"/>
          <a:stretch/>
        </p:blipFill>
        <p:spPr bwMode="auto">
          <a:xfrm>
            <a:off x="7576661" y="1304754"/>
            <a:ext cx="6033169" cy="506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48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13767"/>
            <a:ext cx="3664744" cy="4251008"/>
          </a:xfrm>
          <a:prstGeom prst="roundRect">
            <a:avLst>
              <a:gd name="adj" fmla="val 2600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48201"/>
            <a:ext cx="3195876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1208484" y="38625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352925"/>
            <a:ext cx="319587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Совершенствование позволяет учитывать современные требования к размеру, сложности и производительности электронных устройств.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513767"/>
            <a:ext cx="3664863" cy="4251008"/>
          </a:xfrm>
          <a:prstGeom prst="roundRect">
            <a:avLst>
              <a:gd name="adj" fmla="val 259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2748201"/>
            <a:ext cx="319599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6150" dirty="0"/>
          </a:p>
        </p:txBody>
      </p:sp>
      <p:sp>
        <p:nvSpPr>
          <p:cNvPr id="10" name="Text 7"/>
          <p:cNvSpPr/>
          <p:nvPr/>
        </p:nvSpPr>
        <p:spPr>
          <a:xfrm>
            <a:off x="5100161" y="38625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Возможности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9782" y="435292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Вы можете изготовить плату даже без отправки на производство в условиях вашей мастерской.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703</Words>
  <Application>Microsoft Macintosh PowerPoint</Application>
  <PresentationFormat>Custom</PresentationFormat>
  <Paragraphs>199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Calibri Light</vt:lpstr>
      <vt:lpstr>Instrument Sans Medium</vt:lpstr>
      <vt:lpstr>Calibri</vt:lpstr>
      <vt:lpstr>Instrument Sans Semi Bold</vt:lpstr>
      <vt:lpstr>Arial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Леонид Девятов</cp:lastModifiedBy>
  <cp:revision>5</cp:revision>
  <dcterms:created xsi:type="dcterms:W3CDTF">2025-10-28T21:47:20Z</dcterms:created>
  <dcterms:modified xsi:type="dcterms:W3CDTF">2025-11-08T13:58:52Z</dcterms:modified>
</cp:coreProperties>
</file>